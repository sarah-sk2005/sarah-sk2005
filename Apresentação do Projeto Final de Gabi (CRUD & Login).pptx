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  <ns0:embeddedFont>
      <ns0:font typeface="JetBrains Mono"/>
      <ns0:bold ns1:id="rIdFont20"/>
      <ns0:regular ns1:id="rIdFont21"/>
    </ns0:embeddedFont>
    <ns0:embeddedFont>
      <ns0:font typeface="Plus Jakarta Sans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d0660282-2bad-45d6-b211-c3dab67fa784.fntdata" /><ns0:Relationship Id="rIdFont19" Type="http://schemas.openxmlformats.org/officeDocument/2006/relationships/font" Target="fonts/789c6ac0-8420-40b5-8e00-bf17e834eb3f.fntdata" /><ns0:Relationship Id="rIdFont20" Type="http://schemas.openxmlformats.org/officeDocument/2006/relationships/font" Target="fonts/05139992-98e5-4346-9eda-0a33128a4fa0.fntdata" /><ns0:Relationship Id="rIdFont21" Type="http://schemas.openxmlformats.org/officeDocument/2006/relationships/font" Target="fonts/881bbe69-92da-44bb-b0d0-eb1d5fa4aa24.fntdata" /><ns0:Relationship Id="rIdFont22" Type="http://schemas.openxmlformats.org/officeDocument/2006/relationships/font" Target="fonts/919742ae-26bb-4ee7-810e-33b73191c34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31965"/>
            <a:ext cx="1097280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3196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70090"/>
            <a:ext cx="17145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50" y="4770090"/>
            <a:ext cx="23812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897409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PROGRAMAÇÃO WEB II • PROJETO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49834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Sistema de Cadastro de Amigos &amp; Autenticação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79465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Apresentação técnica da arquitetura, fluxo de autenticação e operações CRUD desenvolvidos por Gabi.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770090"/>
            <a:ext cx="11239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Aluna: Gabi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4575" y="4770090"/>
            <a:ext cx="2047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Orientação: Profª Alice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2275"/>
            <a:ext cx="3505200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2275"/>
            <a:ext cx="3505200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2275"/>
            <a:ext cx="3505200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766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766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766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400425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400425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9637" y="3400425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ESTRUTURA DO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Arquitetura da 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33800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Front-End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14800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Interface dinâmica e responsiva HTML5, CSS3 e JavaScript.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33800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Back-End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14800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Servidor HTTP, controladores de rotas e validação de sessão.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33800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Banco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14800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Persistência relacional com integridade referencial.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8959"/>
            <a:ext cx="5188594" cy="2167830"/>
          </a:xfrm>
          <a:prstGeom prst="roundRect">
            <a:avLst>
              <a:gd name="adj" fmla="val 703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9194" y="2586037"/>
            <a:ext cx="5403205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9194" y="3548062"/>
            <a:ext cx="5403205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9194" y="4510087"/>
            <a:ext cx="5403205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9194" y="2586037"/>
            <a:ext cx="38100" cy="809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9194" y="3548062"/>
            <a:ext cx="38100" cy="809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9194" y="4510087"/>
            <a:ext cx="38100" cy="809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211859"/>
            <a:ext cx="38100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SEGURANÇA DE ACESSO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Sistema de Autenticação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745259"/>
            <a:ext cx="59099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Proteção de Credenciais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145309"/>
            <a:ext cx="4598044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Criptografia de senhas com algoritmo Bcrypt e gerenciamento de estado via sessões HTTP seguras.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5894" y="2776537"/>
            <a:ext cx="57461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1. Validação de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5894" y="3014662"/>
            <a:ext cx="574610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Comparação hash da senha inserida no formulário.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5894" y="3738562"/>
            <a:ext cx="57461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2. Inicialização de Sessão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5894" y="3976687"/>
            <a:ext cx="574610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Registro de ID do usuário autenticado no servidor.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5894" y="4700587"/>
            <a:ext cx="57461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3. Middleware de Controle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5894" y="4938712"/>
            <a:ext cx="574610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Redirecionamento automático para rotas não autorizadas.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8925"/>
            <a:ext cx="5062537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9862" y="2828925"/>
            <a:ext cx="5062537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37" y="3781425"/>
            <a:ext cx="238125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133725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087" y="3133725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PERSISTÊNCIA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Modelagem do Banco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3105150"/>
            <a:ext cx="24003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JetBrains Mono"/>
              </a:rPr>
              <a:t>tabela: usuarios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505200"/>
            <a:ext cx="563760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2563EB"/>
                </a:solidFill>
                <a:latin typeface="JetBrains Mono"/>
              </a:rPr>
              <a:t>id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INT PRIMARY KEY AUTO_INC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810000"/>
            <a:ext cx="563760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F172A"/>
                </a:solidFill>
                <a:latin typeface="JetBrains Mono"/>
              </a:rPr>
              <a:t>nome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VARCHAR(100) NOT 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114800"/>
            <a:ext cx="563760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F172A"/>
                </a:solidFill>
                <a:latin typeface="JetBrains Mono"/>
              </a:rPr>
              <a:t>email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VARCHAR(100)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419600"/>
            <a:ext cx="563760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F172A"/>
                </a:solidFill>
                <a:latin typeface="JetBrains Mono"/>
              </a:rPr>
              <a:t>senha_hash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VARCHAR(255) NOT NULL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887" y="3105150"/>
            <a:ext cx="21002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JetBrains Mono"/>
              </a:rPr>
              <a:t>tabela: amigos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6087" y="3505200"/>
            <a:ext cx="539591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D9488"/>
                </a:solidFill>
                <a:latin typeface="JetBrains Mono"/>
              </a:rPr>
              <a:t>id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INT PRIMARY KEY AUTO_INC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087" y="3810000"/>
            <a:ext cx="539591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2563EB"/>
                </a:solidFill>
                <a:latin typeface="JetBrains Mono"/>
              </a:rPr>
              <a:t>usuario_id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INT FOREIGN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6087" y="4114800"/>
            <a:ext cx="539591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F172A"/>
                </a:solidFill>
                <a:latin typeface="JetBrains Mono"/>
              </a:rPr>
              <a:t>nome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VARCHAR(100) NOT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6087" y="4419600"/>
            <a:ext cx="539591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0F172A"/>
                </a:solidFill>
                <a:latin typeface="JetBrains Mono"/>
              </a:rPr>
              <a:t>telefone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VARCHAR(20)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7490"/>
            <a:ext cx="53721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17490"/>
            <a:ext cx="53721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331815"/>
            <a:ext cx="847725" cy="26670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3331815"/>
            <a:ext cx="657225" cy="266700"/>
          </a:xfrm>
          <a:prstGeom prst="roundRect">
            <a:avLst>
              <a:gd name="adj" fmla="val 21428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FUNCIONALIDADES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Operações: Criar &amp; Listar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369915"/>
            <a:ext cx="714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Inter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5950" y="3346102"/>
            <a:ext cx="22252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Inclusão de Amigo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50915"/>
            <a:ext cx="5929312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Formulário: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Captação de nome e telefone.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25205"/>
            <a:ext cx="5929312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Validação: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Checagem de campos obrigatórios.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299495"/>
            <a:ext cx="5929312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Persistência: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Comando INSERT no banco.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369915"/>
            <a:ext cx="523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D4ED8"/>
                </a:solidFill>
                <a:latin typeface="Inter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3346102"/>
            <a:ext cx="23002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Listagem Dinâmica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750915"/>
            <a:ext cx="5667375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Filtro: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Consulta restrita ao usuário logado.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025205"/>
            <a:ext cx="5667375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Consulta: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Comando SELECT encadeado.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299495"/>
            <a:ext cx="5667375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Interface: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Renderização em tabela limpa.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7490"/>
            <a:ext cx="53721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17490"/>
            <a:ext cx="53721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331815"/>
            <a:ext cx="847725" cy="266700"/>
          </a:xfrm>
          <a:prstGeom prst="roundRect">
            <a:avLst>
              <a:gd name="adj" fmla="val 2142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3331815"/>
            <a:ext cx="819150" cy="266700"/>
          </a:xfrm>
          <a:prstGeom prst="roundRect">
            <a:avLst>
              <a:gd name="adj" fmla="val 21428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FUNCIONALIDADES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Operações: Atualizar &amp; Excluir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369915"/>
            <a:ext cx="714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45309"/>
                </a:solidFill>
                <a:latin typeface="Inter"/>
              </a:rPr>
              <a:t>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5950" y="3346102"/>
            <a:ext cx="22502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Edição de Registro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50915"/>
            <a:ext cx="5929312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Busca: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Carregamento prévio por 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25205"/>
            <a:ext cx="5929312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Edição: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Alteração segura de dados.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299495"/>
            <a:ext cx="5929312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Atualização: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Comando UPDATE parametrizado.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369915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Inter"/>
              </a:rPr>
              <a:t>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8075" y="3346102"/>
            <a:ext cx="206275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Remoção Segura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750915"/>
            <a:ext cx="5667375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Confirmação: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Modal interativo de aviso.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025205"/>
            <a:ext cx="5667375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Autorização: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Verificação de propriedade.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299495"/>
            <a:ext cx="5667375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Exclusão: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Comando DELETE com ID verificado.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0312"/>
            <a:ext cx="10972800" cy="2828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500312"/>
          <a:ext cx="10963273" cy="28289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44389"/>
                <a:gridCol w="2224533"/>
                <a:gridCol w="5681662"/>
                <a:gridCol w="1512689"/>
              </a:tblGrid>
              <a:tr h="47148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Método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Rota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Ação Realizada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Acesso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7148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JetBrains Mono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JetBrains Mono"/>
                        </a:rPr>
                        <a:t>/login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Autentica usuário e inicia sessão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6A34A"/>
                          </a:solidFill>
                          <a:latin typeface="Inter"/>
                        </a:rPr>
                        <a:t>Público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148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JetBrains Mono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JetBrains Mono"/>
                        </a:rPr>
                        <a:t>/amigos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Retorna lista de amigos cadastrados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Inter"/>
                        </a:rPr>
                        <a:t>Privado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148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JetBrains Mono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JetBrains Mono"/>
                        </a:rPr>
                        <a:t>/amigos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Salva novo amigo no banco de dados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Inter"/>
                        </a:rPr>
                        <a:t>Privado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148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97706"/>
                          </a:solidFill>
                          <a:latin typeface="JetBrains Mono"/>
                        </a:rPr>
                        <a:t>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JetBrains Mono"/>
                        </a:rPr>
                        <a:t>/amigos/:id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Atualiza informações de um amigo existente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Inter"/>
                        </a:rPr>
                        <a:t>Privado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JetBrains Mono"/>
                        </a:rPr>
                        <a:t>DELETE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JetBrains Mono"/>
                        </a:rPr>
                        <a:t>/amigos/:id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Remove registro do sistema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Inter"/>
                        </a:rPr>
                        <a:t>Privado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API &amp; ROTAS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Mapeamento de Endpoints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4187"/>
            <a:ext cx="3505200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24187"/>
            <a:ext cx="3505200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24187"/>
            <a:ext cx="3505200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38512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385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38512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PROTEÇÃO DA APLICAÇÃO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Boas Práticas de Segurança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957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Prepared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1003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Bloqueio total contra SQL Injection via consultas parametrizadas.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957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Sanitização de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1003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Tratamento de strings para eliminação de scripts maliciosos (XSS).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957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Sessões Protegidas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11003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Invalidação automática no logout e cookies com flags HttpOnly.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13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7004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195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2105025"/>
            <a:ext cx="592455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775" y="2266950"/>
            <a:ext cx="5600700" cy="329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INTEGRAÇÃO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Fluxo Geral da Aplicação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081337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700462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319587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081337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Login do Usuário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319462"/>
            <a:ext cx="3786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Validação no banco e abertura de sessão.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700462"/>
            <a:ext cx="493811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Navegação Restrita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938587"/>
            <a:ext cx="4702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Acesso ao dashboard de gerenciamento de amigos.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319587"/>
            <a:ext cx="476309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Execução do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557712"/>
            <a:ext cx="4536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Inclusão, consulta, edição e exclusão de contatos.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71912" y="4186237"/>
            <a:ext cx="4448175" cy="600075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90492" y="2071687"/>
            <a:ext cx="24110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2C55E"/>
                </a:solidFill>
                <a:latin typeface="Plus Jakarta Sans"/>
              </a:rPr>
              <a:t>PROJETO CONCLUÍDO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9224" y="2424112"/>
            <a:ext cx="841355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Pronta para a Apresentação!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195637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Aplicação web funcional com controle de acesso, modelagem relacional completa e práticas modernas de segurança.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4046" y="4386262"/>
            <a:ext cx="4583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Inter"/>
              </a:rPr>
              <a:t>Muito obrigada, Professora Alice e Colegas!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4429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https://miro.medium.com/1*OuaOFlL9NVnpjr7CjRdumQ.jpeg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1916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